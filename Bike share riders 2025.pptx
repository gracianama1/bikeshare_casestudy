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1754d1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1754d1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61754d1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61754d1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1754d11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61754d11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8efc3f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78efc3f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78efc3f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78efc3f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8efc3f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78efc3f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1754d11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1754d11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11708" y="-2995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Are we fully meeting the needs of our riders? 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595" y="1406425"/>
            <a:ext cx="2662430" cy="20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26025" y="3660700"/>
            <a:ext cx="8355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How can we create more value to increase membership?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311700" y="1337600"/>
            <a:ext cx="8520600" cy="33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95250" lvl="0" marL="62865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Why are many riders choosing casual/daily passes?</a:t>
            </a:r>
            <a:endParaRPr sz="2400"/>
          </a:p>
          <a:p>
            <a:pPr indent="57150" lvl="0" marL="6286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How are they using it differently? </a:t>
            </a:r>
            <a:endParaRPr sz="2400"/>
          </a:p>
          <a:p>
            <a:pPr indent="57150" lvl="0" marL="6286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95250" lvl="0" marL="62865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Casual riders ride more recreationally while members ride for commute?</a:t>
            </a:r>
            <a:endParaRPr sz="2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Weather and season have an effect</a:t>
            </a:r>
            <a:endParaRPr sz="2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Can we offer different types of memberships? Can we survey riders to see why they do or don’t subscribe? 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311708" y="16644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How we measured data:</a:t>
            </a:r>
            <a:endParaRPr b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-members = those with annual membership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-casual = riders with daily/ hourly purchase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-includes rides from Dec 2024-Jan 2025*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8" name="Google Shape;98;p15"/>
          <p:cNvSpPr txBox="1"/>
          <p:nvPr/>
        </p:nvSpPr>
        <p:spPr>
          <a:xfrm>
            <a:off x="431750" y="3979650"/>
            <a:ext cx="80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*</a:t>
            </a:r>
            <a:r>
              <a:rPr lang="en">
                <a:solidFill>
                  <a:schemeClr val="lt1"/>
                </a:solidFill>
              </a:rPr>
              <a:t>data has been made available by Motivate International Inc. under license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ctrTitle"/>
          </p:nvPr>
        </p:nvSpPr>
        <p:spPr>
          <a:xfrm>
            <a:off x="311708" y="22275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-</a:t>
            </a:r>
            <a:r>
              <a:rPr lang="en" sz="2400"/>
              <a:t>average trip duration in minutes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-average trips per weekday, busiest weekdays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-minimum, maximum trip durations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/>
              <a:t>-dates, finding averages for each month over a 1 year period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0" y="2815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STATS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8150" y="329950"/>
            <a:ext cx="5224499" cy="34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302675" y="900900"/>
            <a:ext cx="3041100" cy="4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</a:t>
            </a:r>
            <a:r>
              <a:rPr lang="en" sz="1800">
                <a:solidFill>
                  <a:schemeClr val="dk2"/>
                </a:solidFill>
              </a:rPr>
              <a:t>busiest times of the year are in the summer months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number of casual riders shows a lot of engagement &amp; interest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winter months have the least amount of casual riders*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302675" y="239100"/>
            <a:ext cx="284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The Data Shows: 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43550" y="4372600"/>
            <a:ext cx="82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*data has been made available by Motivate International Inc. under license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50" y="301925"/>
            <a:ext cx="5417551" cy="39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5877925" y="618575"/>
            <a:ext cx="30411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Casual ridership is highest near the weekend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Member ridership is higher overall daily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30% use our bikes to commute to work each day*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145350" y="4355775"/>
            <a:ext cx="84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*data has been made available by Motivate International Inc. under license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450" y="419100"/>
            <a:ext cx="5435674" cy="394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302675" y="450450"/>
            <a:ext cx="3041100" cy="4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What does it all mean?:</a:t>
            </a:r>
            <a:endParaRPr b="1" sz="2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Casual riders may not see a benefit to paying for a membership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Limited options deter them from subscribing annually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Recommendation: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What can Cyclistic do? </a:t>
            </a:r>
            <a:endParaRPr b="1"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-offer tiered membership based on rider needs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-offer seasonal pass for summer riders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-create promotions or free trial period leading up to summer months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-offer discounts on winter months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